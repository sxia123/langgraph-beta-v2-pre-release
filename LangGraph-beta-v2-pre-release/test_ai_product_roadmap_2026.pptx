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executives. Today we present the multi-tier verification pipeline, foreign file intake metrics, and our 2026 expansion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the deterministic verification gates and how foreign files are segregated safely into specialized deciphering workflows.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that Phase 1 and Phase 2 are already completed and passing 100% test coverage.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F4E79"/>
                </a:solidFill>
              </a:defRPr>
            </a:pPr>
            <a:r>
              <a:t>Enterprise Multi-Agent AI Platform</a:t>
            </a:r>
          </a:p>
          <a:p>
            <a:pPr>
              <a:defRPr sz="2200">
                <a:solidFill>
                  <a:srgbClr val="595959"/>
                </a:solidFill>
              </a:defRPr>
            </a:pPr>
            <a:r>
              <a:t>Q1 2026 Strategic Architecture, Verification Gates &amp; Roadmap</a:t>
            </a:r>
          </a:p>
          <a:p>
            <a:pPr>
              <a:defRPr sz="1400" i="1">
                <a:solidFill>
                  <a:srgbClr val="7F7F7F"/>
                </a:solidFill>
              </a:defRPr>
            </a:pPr>
            <a:r>
              <a:t>Prepared for Executive Leadership &amp; Engineering Steering Committee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Strategic Architecture &amp; Governance Pillars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/>
            </a:pPr>
            <a:r>
              <a:t>- Multi-Modal Media Intake: Unified parser handles Spreadsheets (.xlsx, .csv), Documents (.pdf, .docx), Slideshows (.pptx), and Photos (.png, .jpg).</a:t>
            </a:r>
          </a:p>
          <a:p>
            <a:pPr>
              <a:spcAft>
                <a:spcPts val="1400"/>
              </a:spcAft>
              <a:defRPr sz="1800"/>
            </a:pPr>
            <a:r>
              <a:t>- Deterministic 2.5-Stage Verification: Enforces Tier 0 integrity checks, Tier 0.5 web verification, Tier 1 multi-agent audit, and final sanity gates.</a:t>
            </a:r>
          </a:p>
          <a:p>
            <a:pPr>
              <a:spcAft>
                <a:spcPts val="1400"/>
              </a:spcAft>
              <a:defRPr sz="1800"/>
            </a:pPr>
            <a:r>
              <a:t>- Multi-Model Orchestration: Local Qwen 27B / Qwen 2.5-VL for fast sub-second reasoning coupled with frontier model escalation pathways.</a:t>
            </a:r>
          </a:p>
          <a:p>
            <a:pPr>
              <a:spcAft>
                <a:spcPts val="1400"/>
              </a:spcAft>
              <a:defRPr sz="1800"/>
            </a:pPr>
            <a:r>
              <a:t>- Persistent SQLite Audit Trails: Every run, thought stream, file checkpoint, and human approval is cryptographically indexed in SQLite.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Operational Milestones &amp; Resource Commitments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2011680"/>
          <a:ext cx="103327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3180"/>
                <a:gridCol w="2583180"/>
                <a:gridCol w="2583180"/>
                <a:gridCol w="2583180"/>
              </a:tblGrid>
              <a:tr h="69494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Milestone Target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Target Delivery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62626"/>
                          </a:solidFill>
                        </a:defRPr>
                      </a:pPr>
                      <a:r>
                        <a:t>Phase 1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62626"/>
                          </a:solidFill>
                        </a:defRPr>
                      </a:pPr>
                      <a:r>
                        <a:t>Foreign File Intake (Excel, Word, Slides, Photos)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62626"/>
                          </a:solidFill>
                        </a:defRPr>
                      </a:pPr>
                      <a:r>
                        <a:t>Feb 2026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62626"/>
                          </a:solidFill>
                        </a:defRPr>
                      </a:pPr>
                      <a:r>
                        <a:t>Completed (Production)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62626"/>
                          </a:solidFill>
                        </a:defRPr>
                      </a:pPr>
                      <a:r>
                        <a:t>Phase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62626"/>
                          </a:solidFill>
                        </a:defRPr>
                      </a:pPr>
                      <a:r>
                        <a:t>Interactive Mermaid Visual Charting Engine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62626"/>
                          </a:solidFill>
                        </a:defRPr>
                      </a:pPr>
                      <a:r>
                        <a:t>Mar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62626"/>
                          </a:solidFill>
                        </a:defRPr>
                      </a:pPr>
                      <a:r>
                        <a:t>Completed (Production)</a:t>
                      </a:r>
                    </a:p>
                  </a:txBody>
                  <a:tcPr/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62626"/>
                          </a:solidFill>
                        </a:defRPr>
                      </a:pPr>
                      <a:r>
                        <a:t>Phase 3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62626"/>
                          </a:solidFill>
                        </a:defRPr>
                      </a:pPr>
                      <a:r>
                        <a:t>Distributed GPU Cluster Scaling &amp; Qwen-VL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62626"/>
                          </a:solidFill>
                        </a:defRPr>
                      </a:pPr>
                      <a:r>
                        <a:t>Apr 2026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62626"/>
                          </a:solidFill>
                        </a:defRPr>
                      </a:pPr>
                      <a:r>
                        <a:t>On Schedule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62626"/>
                          </a:solidFill>
                        </a:defRPr>
                      </a:pPr>
                      <a:r>
                        <a:t>Phase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62626"/>
                          </a:solidFill>
                        </a:defRPr>
                      </a:pPr>
                      <a:r>
                        <a:t>Autonomous Multi-Agent Enterprise Consensus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62626"/>
                          </a:solidFill>
                        </a:defRPr>
                      </a:pPr>
                      <a:r>
                        <a:t>May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62626"/>
                          </a:solidFill>
                        </a:defRPr>
                      </a:pPr>
                      <a:r>
                        <a:t>Planned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